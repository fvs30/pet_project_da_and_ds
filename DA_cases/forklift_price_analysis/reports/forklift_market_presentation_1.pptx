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E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E33"/>
                </a:solidFill>
                <a:latin typeface="Arial"/>
              </a:rPr>
              <a:t>Доля объявлений по грузоподъёмности,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рынка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A1A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3,5 т</c:v>
                  </c:pt>
                  <c:pt idx="1">
                    <c:v>3 т</c:v>
                  </c:pt>
                  <c:pt idx="2">
                    <c:v>1,5 т</c:v>
                  </c:pt>
                  <c:pt idx="3">
                    <c:v>5 т</c:v>
                  </c:pt>
                  <c:pt idx="4">
                    <c:v>Прочие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25.74</c:v>
                </c:pt>
                <c:pt idx="1">
                  <c:v>17.41</c:v>
                </c:pt>
                <c:pt idx="2">
                  <c:v>15.18</c:v>
                </c:pt>
                <c:pt idx="3">
                  <c:v>13.39</c:v>
                </c:pt>
                <c:pt idx="4">
                  <c:v>28.28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6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6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E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E33"/>
                </a:solidFill>
                <a:latin typeface="Arial"/>
              </a:rPr>
              <a:t>Концентрация предложения по регионам,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объявлений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Москва</c:v>
                  </c:pt>
                  <c:pt idx="1">
                    <c:v>МО + СПб</c:v>
                  </c:pt>
                  <c:pt idx="2">
                    <c:v>Топ-6 регионов</c:v>
                  </c:pt>
                  <c:pt idx="3">
                    <c:v>Остальные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34.3</c:v>
                </c:pt>
                <c:pt idx="1">
                  <c:v>26.4</c:v>
                </c:pt>
                <c:pt idx="2">
                  <c:v>82.8</c:v>
                </c:pt>
                <c:pt idx="3">
                  <c:v>17.2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6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6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Премия/дисконт, %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76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E768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E76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E768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Komatsu</c:v>
                  </c:pt>
                  <c:pt idx="1">
                    <c:v>EP</c:v>
                  </c:pt>
                  <c:pt idx="2">
                    <c:v>TEU</c:v>
                  </c:pt>
                  <c:pt idx="3">
                    <c:v>Grace</c:v>
                  </c:pt>
                  <c:pt idx="4">
                    <c:v>Liugong</c:v>
                  </c:pt>
                  <c:pt idx="5">
                    <c:v>Hangcha</c:v>
                  </c:pt>
                  <c:pt idx="6">
                    <c:v>Lgmg</c:v>
                  </c:pt>
                  <c:pt idx="7">
                    <c:v>Oxlift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198</c:v>
                </c:pt>
                <c:pt idx="1">
                  <c:v>33</c:v>
                </c:pt>
                <c:pt idx="2">
                  <c:v>25</c:v>
                </c:pt>
                <c:pt idx="3">
                  <c:v>20</c:v>
                </c:pt>
                <c:pt idx="4">
                  <c:v>-14</c:v>
                </c:pt>
                <c:pt idx="5">
                  <c:v>-30</c:v>
                </c:pt>
                <c:pt idx="6">
                  <c:v>-34</c:v>
                </c:pt>
                <c:pt idx="7">
                  <c:v>-37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-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6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E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E33"/>
                </a:solidFill>
                <a:latin typeface="Arial"/>
              </a:rPr>
              <a:t>Средняя абсолютная ошибка по классам, тыс. ₽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Средняя ошибка, тыс. ₽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1,5–3,5 т</c:v>
                  </c:pt>
                  <c:pt idx="1">
                    <c:v>5 т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195</c:v>
                </c:pt>
                <c:pt idx="1">
                  <c:v>497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6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6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0"/>
            <a:ext cx="1280160" cy="164592"/>
          </a:xfrm>
          <a:prstGeom prst="rect">
            <a:avLst/>
          </a:prstGeom>
          <a:solidFill>
            <a:srgbClr val="E8622C"/>
          </a:solidFill>
          <a:ln/>
        </p:spPr>
      </p:sp>
      <p:sp>
        <p:nvSpPr>
          <p:cNvPr id="3" name="Shape 1"/>
          <p:cNvSpPr/>
          <p:nvPr/>
        </p:nvSpPr>
        <p:spPr>
          <a:xfrm>
            <a:off x="2057400" y="5943600"/>
            <a:ext cx="914400" cy="164592"/>
          </a:xfrm>
          <a:prstGeom prst="rect">
            <a:avLst/>
          </a:prstGeom>
          <a:solidFill>
            <a:srgbClr val="6E7681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5943600"/>
            <a:ext cx="640080" cy="164592"/>
          </a:xfrm>
          <a:prstGeom prst="rect">
            <a:avLst/>
          </a:prstGeom>
          <a:solidFill>
            <a:srgbClr val="C24E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Построение ценовой модели на основе данных онлайн-объявлений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1 344 объявления, Avito, срез на 04.08.2026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маркетинга и коммерческого блока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маркетингу ценовая модель рынка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 рынок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 рынок, кто на нём представлен, что и по каким ценам предлагают конкуренты.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65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11880" y="27432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Оценить цену новой конфигурации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35661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Спрогнозировать цену техники, которая ещё не продавалась.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965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46520" y="27432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премию бренда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5661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дороже или дешевле рынка стоит техника конкретной марки при равных характеристиках.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965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81160" y="27432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свою линейку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81160" y="35661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завышена и не занижена ли цена собственной техники относительно рыночного уровня.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онлайн-площадок требуют очистки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1 344 объявления • 27 исходных полей • срез рынка на 04.08.2026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" cy="914400"/>
          </a:xfrm>
          <a:prstGeom prst="rect">
            <a:avLst/>
          </a:prstGeom>
          <a:solidFill>
            <a:srgbClr val="E862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Повторные размещения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 уникальных коммерческих предложений на 1 344 объявления — 59,7% встречаются более одного раза, в т.ч. в разных регионах.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объявлений входит в повторы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54864" cy="914400"/>
          </a:xfrm>
          <a:prstGeom prst="rect">
            <a:avLst/>
          </a:prstGeom>
          <a:solidFill>
            <a:srgbClr val="E8622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449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Утилизационный сбор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всегда включён в цену объявления — искажает сопоставимость цен между продавцами.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30906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поля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3547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+ сумма сбора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54864" cy="914400"/>
          </a:xfrm>
          <a:prstGeom prst="rect">
            <a:avLst/>
          </a:prstGeom>
          <a:solidFill>
            <a:srgbClr val="E8622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153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Нерыночные значения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59943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Хвосты распределения цены объясняются классом техники (0,8–1 т и 5–16 т), не ошибками данных.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42611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480К–10,7М ₽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47183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цен рынка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54864" cy="914400"/>
          </a:xfrm>
          <a:prstGeom prst="rect">
            <a:avLst/>
          </a:prstGeom>
          <a:solidFill>
            <a:srgbClr val="E8622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858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анализа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769864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сконцентрирован в нескольких стандартных типоразмерах с шагом 0,5 тонны.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54315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1,5–5 т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0" y="5888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всех объявлений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 РЫНКА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 держится на четырёх типоразмерах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27632"/>
            <a:ext cx="82296" cy="8229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6" name="Text 3"/>
          <p:cNvSpPr/>
          <p:nvPr/>
        </p:nvSpPr>
        <p:spPr>
          <a:xfrm>
            <a:off x="7543800" y="148132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рынка — 0,5 тонны: 1,5 / 2,0 / 2,5 / 3,0 / 3,5 / 5,0 т.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0" y="2679192"/>
            <a:ext cx="82296" cy="8229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8" name="Text 5"/>
          <p:cNvSpPr/>
          <p:nvPr/>
        </p:nvSpPr>
        <p:spPr>
          <a:xfrm>
            <a:off x="7543800" y="253288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т — самый сбалансированный сегмент: максимум предложения и широкий диапазон цен (высокая конкуренция).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0" y="3730752"/>
            <a:ext cx="82296" cy="8229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0" name="Text 7"/>
          <p:cNvSpPr/>
          <p:nvPr/>
        </p:nvSpPr>
        <p:spPr>
          <a:xfrm>
            <a:off x="7543800" y="35844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Стандартная высота выгрузки — 3 000 мм (75,6% рынка).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0" y="4782312"/>
            <a:ext cx="82296" cy="8229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463600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мощности двигателя — 25–42 кВт (81,8% рынка), пик на 37 кВт.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 РЫНКА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Предложение сконцентрировано географически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Осторожно с интерпретацией: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949440" y="1965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Москве на 461 объявление приходится всего 204 уникальные коммерческие комбинации (коэффициент повторов ≈ 2,26). Один продавец может размещать одинаковое предложение сразу в нескольких регионах — количество объявлений завышает реальную ширину предложения.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949440" y="3611880"/>
            <a:ext cx="4663440" cy="2194560"/>
          </a:xfrm>
          <a:prstGeom prst="roundRect">
            <a:avLst>
              <a:gd name="adj" fmla="val 3333"/>
            </a:avLst>
          </a:prstGeom>
          <a:solidFill>
            <a:srgbClr val="2B2E33"/>
          </a:solidFill>
          <a:ln/>
        </p:spPr>
      </p:sp>
      <p:sp>
        <p:nvSpPr>
          <p:cNvPr id="8" name="Text 5"/>
          <p:cNvSpPr/>
          <p:nvPr/>
        </p:nvSpPr>
        <p:spPr>
          <a:xfrm>
            <a:off x="7223760" y="3794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Бренды и сегменты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416052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Прямое сравнение медиан по брендам вводит в заблуждение: бренды различаются по товарной структуре (Grace продаёт только 3,5–5 т, Zoomlion представлен почти на всех типоразмерах). Позиционирование бренда не универсально: одна и та же марка может быть дороже рынка в одном классе и дешевле в другом.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ЦЕНОВАЯ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Гедоническая модель: от техники к бренду и комплектации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переменная — логарифм цены (правосторонне скошенное распределение)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1F2124"/>
          </a:solidFill>
          <a:ln w="19050">
            <a:solidFill>
              <a:srgbClr val="6E76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Грузоподъёмность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Высота подъёма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Год выпуска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Мощность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754880"/>
            <a:ext cx="4572000" cy="0"/>
          </a:xfrm>
          <a:prstGeom prst="line">
            <a:avLst/>
          </a:prstGeom>
          <a:noFill/>
          <a:ln w="9525">
            <a:solidFill>
              <a:srgbClr val="6E76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(log, train) 0,734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≈ 371 тыс. ₽   ·   RMSE ≈ 621 тыс. ₽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1F2124"/>
          </a:solidFill>
          <a:ln w="19050">
            <a:solidFill>
              <a:srgbClr val="E862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Model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Марка (dummy)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Сайдшифт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Навесное оборудование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Трансмиссия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4754880"/>
            <a:ext cx="4572000" cy="0"/>
          </a:xfrm>
          <a:prstGeom prst="line">
            <a:avLst/>
          </a:prstGeom>
          <a:noFill/>
          <a:ln w="9525">
            <a:solidFill>
              <a:srgbClr val="6E76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(log, train) 0,851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≈ 240 тыс. ₽   ·   RMSE ≈ 354 тыс. ₽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ЦЕНОВАЯ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Точность на тестовой выборке (в рублях)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76656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~371 000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239 519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RMSE, 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~621 000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353 686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(шкала ₽)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F4F2EE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82880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MAE/RMSE/R² здесь посчитаны после обратного перехода из log(цена) в рубли — это и есть практическая точность прогноза в деньгах.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09560" y="320040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бренда и комплектации снизило среднюю ошибку прогноза примерно на 35%.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09560" y="429768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Model рекомендована как основная для рыночной оценки — она учитывает технику, бренд и комплектацию одновременно.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ПЛАТИТ РЫНОК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что рынок готов доплачивать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Extended Model, относительно медианной цены 1 573 936 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B2E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220 122 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+13,99%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тонна грузоподъёмности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B2E3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240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87 718 ₽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6616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+5,57%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4526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метр высоты подъёма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B2E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240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118 910 ₽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+7,55%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4526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год выпуска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5256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B2E33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240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12 532 ₽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3544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+0,80%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5440" y="4526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кВт мощности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Грузоподъёмность остаётся главным ценовым фактором даже после учёта бренда и комплектации.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ПЛАТИТ РЫНОК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Премия и дисконт бренда относительно Zoomlion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равных технических характеристиках и комплектации (Extended Model)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ПЛАТИТ РЫНОК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Комплектация: что рынок ценит, а что нет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657600"/>
        </p:xfrm>
        <a:graphic>
          <a:graphicData uri="http://schemas.openxmlformats.org/drawingml/2006/table">
            <a:tbl>
              <a:tblPr/>
              <a:tblGrid>
                <a:gridCol w="5486400"/>
                <a:gridCol w="2011680"/>
                <a:gridCol w="1737360"/>
                <a:gridCol w="1828800"/>
              </a:tblGrid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Элемент комплектации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Эффект к цене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3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Сайдшифт — входит в комплектацию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&lt;0,001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значимо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Навесное оборудование — установлено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&lt;0,001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значимо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Навесное оборудование — доп. опция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&lt;0,001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значимо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Сайдшифт — доп. опция / под заказ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1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подтверждено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Трансмиссия — гидротрансформатор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1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подтверждено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Трансмиссия — автомат подтверждён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&lt;0,001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значимый дисконт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вывод: рынок явно доплачивает за сайдшифт и навесное оборудование, когда они входят в стандартную комплектацию — их стоит закладывать в базовые версии линейки, а не только в опции.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модель ошибается сильнее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т и редкие бренды: точное значение ошибки не приводится — выборка слишком мала для устойчивой оценки.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949440" y="1764792"/>
            <a:ext cx="82296" cy="8229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7" name="Text 4"/>
          <p:cNvSpPr/>
          <p:nvPr/>
        </p:nvSpPr>
        <p:spPr>
          <a:xfrm>
            <a:off x="7178040" y="160020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1,5–3,5 т: ошибка 130–260 тыс. ₽, без систематического смещения — модель работает стабильно.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49440" y="2862072"/>
            <a:ext cx="82296" cy="8229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269748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т: ошибка растёт до ≈497 тыс. ₽, цена в среднем занижается на 4,6%.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49440" y="3959352"/>
            <a:ext cx="82296" cy="8229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1" name="Text 8"/>
          <p:cNvSpPr/>
          <p:nvPr/>
        </p:nvSpPr>
        <p:spPr>
          <a:xfrm>
            <a:off x="7178040" y="379476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т и редкие бренды: ошибка заметно выше среднего, но из-за малого числа наблюдений результат не стоит считать закономерностью.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949440" y="5056632"/>
            <a:ext cx="82296" cy="8229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3" name="Text 10"/>
          <p:cNvSpPr/>
          <p:nvPr/>
        </p:nvSpPr>
        <p:spPr>
          <a:xfrm>
            <a:off x="7178040" y="489204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факторы (курс валют, логистика, доступность брендов) не входят в модель — срез на одну дату, 04.08.2026.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осталось за рамками количественной модели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вопросов ТЗ не получила числовой оценки — не потому что не проверялась, а потому что данные не позволяют сделать надёжный вывод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двигателя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включён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Извлекался из свободного текста описания, где формулировки неоднозначны и дублируются. Доли типов двигателей признаны недостоверными для количественных выводов.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148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продаёт технику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6118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разделено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часть объявлений — от продавцов-компаний. Надёжно выделить производителей, официальных дилеров и независимые торговые компании по доступным данным не удалось.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17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мес / 3000 м/ч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самый распространённый формат на рынке — рыночный стандарт. Связь с ценой не доказана: эффект нельзя надёжно отделить от бренда и маркетингового позиционирования.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4348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617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объявлений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60807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включён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50292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«Описание» перегружено маркетинговым шумом, повторами и сведениями не по технике. Количественный анализ аргументов продавцов в выводы не включён.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ПРИМЕНЕНИЕ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Калькулятор прогнозной цены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без статистической подготовки вводит характеристики — получает рыночный ориентир цены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1F2124"/>
          </a:solidFill>
          <a:ln w="19050">
            <a:solidFill>
              <a:srgbClr val="E862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Zoomlion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выше факта — модель не учитывает индивидуальную ценовую стратегию продавца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1F2124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286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Hangcha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7889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 млн ₽ прогноз против 1,21 млн ₽ факт — практическое совпадение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— рыночный ориентир, а не точная цена продажи. Средняя ошибка ≈ 240 тыс. ₽ на тестовой выборке.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даёт маркетингу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622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рынка понятна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0" y="157276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стандартных типоразмера формируют 72% рынка, шаг — 0,5 т. Предложение сконцентрировано в Москве, МО и СПб (60,7%), но часть этого объёма — повторные размещения.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622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4414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объясняет 90% цены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0" y="244144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Model (техника + бренд + комплектация): R² = 0,897, средняя ошибка ≈ 240 тыс. ₽ на тестовой выборке.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622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310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Премия бренда измерена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0" y="331012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−37% до +198% относительно Zoomlion при равных характеристиках — видно, кто продаёт «имя», а кто конкурирует ценой.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622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41788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Комплектация встроена в модель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0" y="417880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Сайдшифт и навесное оборудование дают измеримую премию (+13–16%) — ориентир для формирования собственной линейки.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622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50474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рабочий инструмент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029200" y="504748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прогнозной цены для менеджера без статистической подготовки — ориентир, а не точная цена.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вилочных погрузчиков — ценовая модель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0"/>
            <a:ext cx="1280160" cy="164592"/>
          </a:xfrm>
          <a:prstGeom prst="rect">
            <a:avLst/>
          </a:prstGeom>
          <a:solidFill>
            <a:srgbClr val="E8622C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5943600"/>
            <a:ext cx="914400" cy="164592"/>
          </a:xfrm>
          <a:prstGeom prst="rect">
            <a:avLst/>
          </a:prstGeom>
          <a:solidFill>
            <a:srgbClr val="6E7681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5943600"/>
            <a:ext cx="640080" cy="164592"/>
          </a:xfrm>
          <a:prstGeom prst="rect">
            <a:avLst/>
          </a:prstGeom>
          <a:solidFill>
            <a:srgbClr val="C24E1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2026-08-25T01:33:35Z</dcterms:created>
  <dcterms:modified xsi:type="dcterms:W3CDTF">2026-08-25T01:33:35Z</dcterms:modified>
</cp:coreProperties>
</file>